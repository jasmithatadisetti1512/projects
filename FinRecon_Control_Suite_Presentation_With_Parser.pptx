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-941" y="-1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D43"/>
          </a:solidFill>
          <a:ln>
            <a:solidFill>
              <a:srgbClr val="1F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658368" cy="6583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FR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640080"/>
            <a:ext cx="658368" cy="658368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00200" y="713232"/>
            <a:ext cx="219456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FINRECON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987552"/>
            <a:ext cx="219456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900" b="1">
                <a:solidFill>
                  <a:srgbClr val="AACDC0"/>
                </a:solidFill>
                <a:latin typeface="Aptos"/>
              </a:rPr>
              <a:t>CONTROL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760720" cy="1417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From ledger noise
to a clean close.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584779"/>
            <a:ext cx="5221224" cy="877163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700" b="0" dirty="0">
                <a:solidFill>
                  <a:srgbClr val="C2DACD"/>
                </a:solidFill>
                <a:latin typeface="Aptos"/>
              </a:rPr>
              <a:t>An automated financial reconciliation platform for matching, exception management, auditability, and certified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3474720" cy="3474720"/>
          </a:xfrm>
          <a:prstGeom prst="roundRect">
            <a:avLst/>
          </a:prstGeom>
          <a:solidFill>
            <a:srgbClr val="254F53"/>
          </a:solidFill>
          <a:ln>
            <a:solidFill>
              <a:srgbClr val="48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001000" y="2103120"/>
            <a:ext cx="2103120" cy="2103120"/>
          </a:xfrm>
          <a:prstGeom prst="ellipse">
            <a:avLst/>
          </a:prstGeom>
          <a:noFill/>
          <a:ln w="25400"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02752" y="2404872"/>
            <a:ext cx="1499616" cy="1499616"/>
          </a:xfrm>
          <a:prstGeom prst="ellipse">
            <a:avLst/>
          </a:prstGeom>
          <a:noFill/>
          <a:ln w="25400"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04504" y="2706624"/>
            <a:ext cx="896112" cy="896112"/>
          </a:xfrm>
          <a:prstGeom prst="ellipse">
            <a:avLst/>
          </a:prstGeom>
          <a:noFill/>
          <a:ln w="25400">
            <a:solidFill>
              <a:srgbClr val="EBB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26679" y="1920240"/>
            <a:ext cx="146304" cy="146304"/>
          </a:xfrm>
          <a:prstGeom prst="ellipse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0" y="1965960"/>
            <a:ext cx="146304" cy="146304"/>
          </a:xfrm>
          <a:prstGeom prst="ellipse">
            <a:avLst/>
          </a:prstGeom>
          <a:solidFill>
            <a:srgbClr val="2B765F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18120" y="4251960"/>
            <a:ext cx="146304" cy="146304"/>
          </a:xfrm>
          <a:prstGeom prst="ellipse">
            <a:avLst/>
          </a:prstGeom>
          <a:solidFill>
            <a:srgbClr val="2B765F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49840" y="4160520"/>
            <a:ext cx="146304" cy="146304"/>
          </a:xfrm>
          <a:prstGeom prst="ellipse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052560" y="1600200"/>
            <a:ext cx="146304" cy="146304"/>
          </a:xfrm>
          <a:prstGeom prst="ellipse">
            <a:avLst/>
          </a:prstGeom>
          <a:solidFill>
            <a:srgbClr val="EBBC3D"/>
          </a:solidFill>
          <a:ln>
            <a:solidFill>
              <a:srgbClr val="EBB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79" y="5257800"/>
            <a:ext cx="27432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1">
                <a:solidFill>
                  <a:srgbClr val="B3DCC7"/>
                </a:solidFill>
                <a:latin typeface="Aptos"/>
              </a:rPr>
              <a:t>LIVE RECONCILIATION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6144768"/>
            <a:ext cx="29260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0">
                <a:solidFill>
                  <a:srgbClr val="99B9AE"/>
                </a:solidFill>
                <a:latin typeface="Aptos"/>
              </a:rPr>
              <a:t>Project presentation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4"/>
          </a:solidFill>
          <a:ln>
            <a:solidFill>
              <a:srgbClr val="F4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FR  /  CONTROL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r"/>
            <a:r>
              <a:rPr sz="900" b="1">
                <a:solidFill>
                  <a:srgbClr val="2B765F"/>
                </a:solidFill>
                <a:latin typeface="Aptos"/>
              </a:rPr>
              <a:t>01 /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3000" b="1">
                <a:solidFill>
                  <a:srgbClr val="1F3D43"/>
                </a:solidFill>
                <a:latin typeface="Aptos Display"/>
              </a:rPr>
              <a:t>Why this project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34431"/>
            <a:ext cx="5468112" cy="800219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2300" b="1" dirty="0">
                <a:solidFill>
                  <a:srgbClr val="1F3D43"/>
                </a:solidFill>
                <a:latin typeface="Aptos Display"/>
              </a:rPr>
              <a:t>Financial reconciliation is often a manual, high-friction process.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79191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489204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700" b="0">
                <a:solidFill>
                  <a:srgbClr val="17211F"/>
                </a:solidFill>
                <a:latin typeface="Aptos"/>
              </a:rPr>
              <a:t>Ledger and bank data arrive in different structures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91256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3072384"/>
            <a:ext cx="489204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700" b="0" dirty="0">
                <a:solidFill>
                  <a:srgbClr val="17211F"/>
                </a:solidFill>
                <a:latin typeface="Aptos"/>
              </a:rPr>
              <a:t>Manual comparison hides small but important discrepancies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584448"/>
            <a:ext cx="489204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700" b="0">
                <a:solidFill>
                  <a:srgbClr val="17211F"/>
                </a:solidFill>
                <a:latin typeface="Aptos"/>
              </a:rPr>
              <a:t>Unresolved items need a reason, owner, and audit trail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15384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096512"/>
            <a:ext cx="489204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700" b="0">
                <a:solidFill>
                  <a:srgbClr val="17211F"/>
                </a:solidFill>
                <a:latin typeface="Aptos"/>
              </a:rPr>
              <a:t>Finance teams need a report they can trust and share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828800"/>
            <a:ext cx="4480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86600" y="2212848"/>
            <a:ext cx="219456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1">
                <a:solidFill>
                  <a:srgbClr val="EF713D"/>
                </a:solidFill>
                <a:latin typeface="Aptos"/>
              </a:rPr>
              <a:t>THE OBJECTIVE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6" y="2508573"/>
            <a:ext cx="4291584" cy="1246495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2500" b="1" dirty="0">
                <a:solidFill>
                  <a:srgbClr val="1F3D43"/>
                </a:solidFill>
                <a:latin typeface="Aptos Display"/>
              </a:rPr>
              <a:t>Turn two raw transaction streams into one controlled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6" y="3973845"/>
            <a:ext cx="3712464" cy="78483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500" b="0" dirty="0">
                <a:solidFill>
                  <a:srgbClr val="6A7D75"/>
                </a:solidFill>
                <a:latin typeface="Aptos"/>
              </a:rPr>
              <a:t>Automate the comparison, preserve the evidence, and leave human judgement only where it is needed.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92240"/>
            <a:ext cx="384048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800" b="1">
                <a:solidFill>
                  <a:srgbClr val="6A7D75"/>
                </a:solidFill>
                <a:latin typeface="Aptos"/>
              </a:rPr>
              <a:t>FINRECON CONTROL SUITE   |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4"/>
          </a:solidFill>
          <a:ln>
            <a:solidFill>
              <a:srgbClr val="F4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FR  /  CONTROL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r"/>
            <a:r>
              <a:rPr sz="900" b="1">
                <a:solidFill>
                  <a:srgbClr val="2B765F"/>
                </a:solidFill>
                <a:latin typeface="Aptos"/>
              </a:rPr>
              <a:t>09 /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3000" b="1">
                <a:solidFill>
                  <a:srgbClr val="1F3D43"/>
                </a:solidFill>
                <a:latin typeface="Aptos Display"/>
              </a:rPr>
              <a:t>Exception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1691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258568"/>
            <a:ext cx="54864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EF713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61488"/>
            <a:ext cx="132588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900" b="1">
                <a:solidFill>
                  <a:srgbClr val="1F3D43"/>
                </a:solidFill>
                <a:latin typeface="Aptos Display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1" y="3317039"/>
            <a:ext cx="1432865" cy="461665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200" b="0" dirty="0">
                <a:solidFill>
                  <a:srgbClr val="6A7D75"/>
                </a:solidFill>
                <a:latin typeface="Aptos"/>
              </a:rPr>
              <a:t>Upload ledger and bank files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3090672"/>
            <a:ext cx="457200" cy="0"/>
          </a:xfrm>
          <a:prstGeom prst="line">
            <a:avLst/>
          </a:prstGeom>
          <a:ln w="25400">
            <a:solidFill>
              <a:srgbClr val="EF7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71800" y="2057400"/>
            <a:ext cx="1691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36392" y="2258568"/>
            <a:ext cx="54864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EF713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761488"/>
            <a:ext cx="132588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900" b="1">
                <a:solidFill>
                  <a:srgbClr val="1F3D43"/>
                </a:solidFill>
                <a:latin typeface="Aptos Display"/>
              </a:rP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1" y="3317039"/>
            <a:ext cx="1432865" cy="461665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200" b="0" dirty="0">
                <a:solidFill>
                  <a:srgbClr val="6A7D75"/>
                </a:solidFill>
                <a:latin typeface="Aptos"/>
              </a:rPr>
              <a:t>Validate and standardize fields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63440" y="3090672"/>
            <a:ext cx="457200" cy="0"/>
          </a:xfrm>
          <a:prstGeom prst="line">
            <a:avLst/>
          </a:prstGeom>
          <a:ln w="25400">
            <a:solidFill>
              <a:srgbClr val="EF7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2057400"/>
            <a:ext cx="1691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76672" y="2258568"/>
            <a:ext cx="54864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EF713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2761488"/>
            <a:ext cx="132588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900" b="1">
                <a:solidFill>
                  <a:srgbClr val="1F3D43"/>
                </a:solidFill>
                <a:latin typeface="Aptos Display"/>
              </a:rPr>
              <a:t>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317039"/>
            <a:ext cx="1325880" cy="461665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200" b="0" dirty="0">
                <a:solidFill>
                  <a:srgbClr val="6A7D75"/>
                </a:solidFill>
                <a:latin typeface="Aptos"/>
              </a:rPr>
              <a:t>Apply reconciliation rules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03720" y="3090672"/>
            <a:ext cx="457200" cy="0"/>
          </a:xfrm>
          <a:prstGeom prst="line">
            <a:avLst/>
          </a:prstGeom>
          <a:ln w="25400">
            <a:solidFill>
              <a:srgbClr val="EF7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52360" y="2057400"/>
            <a:ext cx="1691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16952" y="2258568"/>
            <a:ext cx="54864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EF713D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2761488"/>
            <a:ext cx="132588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900" b="1">
                <a:solidFill>
                  <a:srgbClr val="1F3D43"/>
                </a:solidFill>
                <a:latin typeface="Aptos Display"/>
              </a:rPr>
              <a:t>Resolve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3317039"/>
            <a:ext cx="1325880" cy="461665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200" b="0">
                <a:solidFill>
                  <a:srgbClr val="6A7D75"/>
                </a:solidFill>
                <a:latin typeface="Aptos"/>
              </a:rPr>
              <a:t>Review and decide exceptions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0" y="3090672"/>
            <a:ext cx="457200" cy="0"/>
          </a:xfrm>
          <a:prstGeom prst="line">
            <a:avLst/>
          </a:prstGeom>
          <a:ln w="25400">
            <a:solidFill>
              <a:srgbClr val="EF7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92640" y="2057400"/>
            <a:ext cx="1691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57232" y="2258568"/>
            <a:ext cx="54864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EF713D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2761488"/>
            <a:ext cx="132588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900" b="1">
                <a:solidFill>
                  <a:srgbClr val="1F3D43"/>
                </a:solidFill>
                <a:latin typeface="Aptos Display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7232" y="3317039"/>
            <a:ext cx="1325880" cy="461665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200" b="0" dirty="0">
                <a:solidFill>
                  <a:srgbClr val="6A7D75"/>
                </a:solidFill>
                <a:latin typeface="Aptos"/>
              </a:rPr>
              <a:t>Export an audit workbook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983480"/>
            <a:ext cx="10241280" cy="4114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900" b="1">
                <a:solidFill>
                  <a:srgbClr val="2B765F"/>
                </a:solidFill>
                <a:latin typeface="Aptos"/>
              </a:rPr>
              <a:t>The result is a repeatable close process with less manual comparison and stronger traceability.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92240"/>
            <a:ext cx="384048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800" b="1">
                <a:solidFill>
                  <a:srgbClr val="6A7D75"/>
                </a:solidFill>
                <a:latin typeface="Aptos"/>
              </a:rPr>
              <a:t>FINRECON CONTROL SUITE   |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D43"/>
          </a:solidFill>
          <a:ln>
            <a:solidFill>
              <a:srgbClr val="1F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FR  /  CONTROL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r"/>
            <a:r>
              <a:rPr sz="900" b="1">
                <a:solidFill>
                  <a:srgbClr val="AECFC2"/>
                </a:solidFill>
                <a:latin typeface="Aptos"/>
              </a:rPr>
              <a:t>03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691640" cy="1234440"/>
          </a:xfrm>
          <a:prstGeom prst="roundRect">
            <a:avLst/>
          </a:prstGeom>
          <a:solidFill>
            <a:srgbClr val="2B5154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331720"/>
            <a:ext cx="73152" cy="123444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1325880" cy="256032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Browser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1280160" cy="38404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0">
                <a:solidFill>
                  <a:srgbClr val="B9D5CA"/>
                </a:solidFill>
                <a:latin typeface="Aptos"/>
              </a:rPr>
              <a:t>HTML / CSS / JavaScript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2944368"/>
            <a:ext cx="457200" cy="0"/>
          </a:xfrm>
          <a:prstGeom prst="line">
            <a:avLst/>
          </a:prstGeom>
          <a:ln w="25400">
            <a:solidFill>
              <a:srgbClr val="8EC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154680" y="2331720"/>
            <a:ext cx="1691640" cy="1234440"/>
          </a:xfrm>
          <a:prstGeom prst="roundRect">
            <a:avLst/>
          </a:prstGeom>
          <a:solidFill>
            <a:srgbClr val="2B5154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54680" y="2331720"/>
            <a:ext cx="73152" cy="1234440"/>
          </a:xfrm>
          <a:prstGeom prst="rect">
            <a:avLst/>
          </a:prstGeom>
          <a:solidFill>
            <a:srgbClr val="2B765F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2542032"/>
            <a:ext cx="1325880" cy="256032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Flask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926080"/>
            <a:ext cx="1280160" cy="38404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0">
                <a:solidFill>
                  <a:srgbClr val="B9D5CA"/>
                </a:solidFill>
                <a:latin typeface="Aptos"/>
              </a:rPr>
              <a:t>Routes, sessions, uploads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2944368"/>
            <a:ext cx="457200" cy="0"/>
          </a:xfrm>
          <a:prstGeom prst="line">
            <a:avLst/>
          </a:prstGeom>
          <a:ln w="25400">
            <a:solidFill>
              <a:srgbClr val="8EC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94960" y="2331720"/>
            <a:ext cx="1691640" cy="1234440"/>
          </a:xfrm>
          <a:prstGeom prst="roundRect">
            <a:avLst/>
          </a:prstGeom>
          <a:solidFill>
            <a:srgbClr val="2B5154"/>
          </a:solidFill>
          <a:ln>
            <a:solidFill>
              <a:srgbClr val="EBB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94960" y="2331720"/>
            <a:ext cx="73152" cy="1234440"/>
          </a:xfrm>
          <a:prstGeom prst="rect">
            <a:avLst/>
          </a:prstGeom>
          <a:solidFill>
            <a:srgbClr val="EBBC3D"/>
          </a:solidFill>
          <a:ln>
            <a:solidFill>
              <a:srgbClr val="EBB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0" y="2542032"/>
            <a:ext cx="1325880" cy="256032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26080"/>
            <a:ext cx="1280160" cy="38404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0">
                <a:solidFill>
                  <a:srgbClr val="B9D5CA"/>
                </a:solidFill>
                <a:latin typeface="Aptos"/>
              </a:rPr>
              <a:t>Pandas parser + matching engine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86600" y="2944368"/>
            <a:ext cx="457200" cy="0"/>
          </a:xfrm>
          <a:prstGeom prst="line">
            <a:avLst/>
          </a:prstGeom>
          <a:ln w="25400">
            <a:solidFill>
              <a:srgbClr val="8EC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35240" y="2331720"/>
            <a:ext cx="1691640" cy="1234440"/>
          </a:xfrm>
          <a:prstGeom prst="roundRect">
            <a:avLst/>
          </a:prstGeom>
          <a:solidFill>
            <a:srgbClr val="2B5154"/>
          </a:solidFill>
          <a:ln>
            <a:solidFill>
              <a:srgbClr val="6D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2331720"/>
            <a:ext cx="73152" cy="1234440"/>
          </a:xfrm>
          <a:prstGeom prst="rect">
            <a:avLst/>
          </a:prstGeom>
          <a:solidFill>
            <a:srgbClr val="6DAEA4"/>
          </a:solidFill>
          <a:ln>
            <a:solidFill>
              <a:srgbClr val="6D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2542032"/>
            <a:ext cx="1325880" cy="256032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926080"/>
            <a:ext cx="1280160" cy="38404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0">
                <a:solidFill>
                  <a:srgbClr val="B9D5CA"/>
                </a:solidFill>
                <a:latin typeface="Aptos"/>
              </a:rPr>
              <a:t>SQLite + audit history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2944368"/>
            <a:ext cx="457200" cy="0"/>
          </a:xfrm>
          <a:prstGeom prst="line">
            <a:avLst/>
          </a:prstGeom>
          <a:ln w="25400">
            <a:solidFill>
              <a:srgbClr val="8EC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75520" y="2331720"/>
            <a:ext cx="1691640" cy="1234440"/>
          </a:xfrm>
          <a:prstGeom prst="roundRect">
            <a:avLst/>
          </a:prstGeom>
          <a:solidFill>
            <a:srgbClr val="2B5154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75520" y="2331720"/>
            <a:ext cx="73152" cy="123444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0" y="2542032"/>
            <a:ext cx="1325880" cy="256032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926080"/>
            <a:ext cx="1280160" cy="38404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0">
                <a:solidFill>
                  <a:srgbClr val="B9D5CA"/>
                </a:solidFill>
                <a:latin typeface="Aptos"/>
              </a:rPr>
              <a:t>Excel report + CSV exports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09160"/>
            <a:ext cx="9875520" cy="4114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800" b="0">
                <a:solidFill>
                  <a:srgbClr val="CAE2D6"/>
                </a:solidFill>
                <a:latin typeface="Aptos"/>
              </a:rPr>
              <a:t>One local Flask process serves the interface, API, processing workflow, and report download.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92240"/>
            <a:ext cx="384048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800" b="1">
                <a:solidFill>
                  <a:srgbClr val="6A7D75"/>
                </a:solidFill>
                <a:latin typeface="Aptos"/>
              </a:rPr>
              <a:t>FINRECON CONTROL SUITE   |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4"/>
          </a:solidFill>
          <a:ln>
            <a:solidFill>
              <a:srgbClr val="F4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FR  /  CONTROL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r"/>
            <a:r>
              <a:rPr sz="900" b="1">
                <a:solidFill>
                  <a:srgbClr val="2B765F"/>
                </a:solidFill>
                <a:latin typeface="Aptos"/>
              </a:rPr>
              <a:t>04 /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3000" b="1">
                <a:solidFill>
                  <a:srgbClr val="1F3D43"/>
                </a:solidFill>
                <a:latin typeface="Aptos Display"/>
              </a:rPr>
              <a:t>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91440" cy="132588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075688"/>
            <a:ext cx="256032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900" b="1">
                <a:solidFill>
                  <a:srgbClr val="1F3D43"/>
                </a:solidFill>
                <a:latin typeface="Aptos Display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23744"/>
            <a:ext cx="256032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0">
                <a:solidFill>
                  <a:srgbClr val="6A7D75"/>
                </a:solidFill>
                <a:latin typeface="Aptos"/>
              </a:rPr>
              <a:t>Core language and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91440" cy="1325880"/>
          </a:xfrm>
          <a:prstGeom prst="rect">
            <a:avLst/>
          </a:prstGeom>
          <a:solidFill>
            <a:srgbClr val="2B765F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075688"/>
            <a:ext cx="256032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900" b="1">
                <a:solidFill>
                  <a:srgbClr val="1F3D43"/>
                </a:solidFill>
                <a:latin typeface="Aptos Display"/>
              </a:rPr>
              <a:t>Flask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23744"/>
            <a:ext cx="256032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0">
                <a:solidFill>
                  <a:srgbClr val="6A7D75"/>
                </a:solidFill>
                <a:latin typeface="Aptos"/>
              </a:rPr>
              <a:t>Web server and JSON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91440" cy="1325880"/>
          </a:xfrm>
          <a:prstGeom prst="rect">
            <a:avLst/>
          </a:prstGeom>
          <a:solidFill>
            <a:srgbClr val="EBBC3D"/>
          </a:solidFill>
          <a:ln>
            <a:solidFill>
              <a:srgbClr val="EBB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2075688"/>
            <a:ext cx="256032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900" b="1">
                <a:solidFill>
                  <a:srgbClr val="1F3D43"/>
                </a:solidFill>
                <a:latin typeface="Aptos Display"/>
              </a:rPr>
              <a:t>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23744"/>
            <a:ext cx="256032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0">
                <a:solidFill>
                  <a:srgbClr val="6A7D75"/>
                </a:solidFill>
                <a:latin typeface="Aptos"/>
              </a:rPr>
              <a:t>CSV / Excel parsing and transformation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70332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703320"/>
            <a:ext cx="91440" cy="1325880"/>
          </a:xfrm>
          <a:prstGeom prst="rect">
            <a:avLst/>
          </a:prstGeom>
          <a:solidFill>
            <a:srgbClr val="548F84"/>
          </a:solidFill>
          <a:ln>
            <a:solidFill>
              <a:srgbClr val="548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950208"/>
            <a:ext cx="256032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900" b="1">
                <a:solidFill>
                  <a:srgbClr val="1F3D43"/>
                </a:solidFill>
                <a:latin typeface="Aptos Display"/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98264"/>
            <a:ext cx="256032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0">
                <a:solidFill>
                  <a:srgbClr val="6A7D75"/>
                </a:solidFill>
                <a:latin typeface="Aptos"/>
              </a:rPr>
              <a:t>Users, transactions, results,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70332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26280" y="3703320"/>
            <a:ext cx="91440" cy="132588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3950208"/>
            <a:ext cx="256032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900" b="1">
                <a:solidFill>
                  <a:srgbClr val="1F3D43"/>
                </a:solidFill>
                <a:latin typeface="Aptos Display"/>
              </a:rPr>
              <a:t>OpenPyXL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398264"/>
            <a:ext cx="256032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0">
                <a:solidFill>
                  <a:srgbClr val="6A7D75"/>
                </a:solidFill>
                <a:latin typeface="Aptos"/>
              </a:rPr>
              <a:t>Certified Excel report generation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70332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3703320"/>
            <a:ext cx="91440" cy="1325880"/>
          </a:xfrm>
          <a:prstGeom prst="rect">
            <a:avLst/>
          </a:prstGeom>
          <a:solidFill>
            <a:srgbClr val="2B765F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3950208"/>
            <a:ext cx="256032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900" b="1">
                <a:solidFill>
                  <a:srgbClr val="1F3D43"/>
                </a:solidFill>
                <a:latin typeface="Aptos Display"/>
              </a:rPr>
              <a:t>HTML / CSS / 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398264"/>
            <a:ext cx="256032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0">
                <a:solidFill>
                  <a:srgbClr val="6A7D75"/>
                </a:solidFill>
                <a:latin typeface="Aptos"/>
              </a:rPr>
              <a:t>Responsive operations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92240"/>
            <a:ext cx="384048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800" b="1">
                <a:solidFill>
                  <a:srgbClr val="6A7D75"/>
                </a:solidFill>
                <a:latin typeface="Aptos"/>
              </a:rPr>
              <a:t>FINRECON CONTROL SUITE   |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4"/>
          </a:solidFill>
          <a:ln>
            <a:solidFill>
              <a:srgbClr val="F4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FR  /  CONTROL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r"/>
            <a:r>
              <a:rPr sz="900" b="1">
                <a:solidFill>
                  <a:srgbClr val="2B765F"/>
                </a:solidFill>
                <a:latin typeface="Aptos"/>
              </a:rPr>
              <a:t>05 /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3000" b="1">
                <a:solidFill>
                  <a:srgbClr val="1F3D43"/>
                </a:solidFill>
                <a:latin typeface="Aptos Display"/>
              </a:rPr>
              <a:t>Automated data parser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515600" cy="4114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2100" b="1">
                <a:solidFill>
                  <a:srgbClr val="1F3D43"/>
                </a:solidFill>
                <a:latin typeface="Aptos Display"/>
              </a:rPr>
              <a:t>The parser turns inconsistent source files into a predictable data contract.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417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953512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19272"/>
            <a:ext cx="1097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F3D43"/>
                </a:solidFill>
                <a:latin typeface="Aptos"/>
              </a:rPr>
              <a:t>Upload bytes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75887"/>
            <a:ext cx="1097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0">
                <a:solidFill>
                  <a:srgbClr val="6A7D75"/>
                </a:solidFill>
                <a:latin typeface="Aptos"/>
              </a:rPr>
              <a:t>CSV / XLSX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3438144"/>
            <a:ext cx="347472" cy="0"/>
          </a:xfrm>
          <a:prstGeom prst="line">
            <a:avLst/>
          </a:prstGeom>
          <a:ln w="19050">
            <a:solidFill>
              <a:srgbClr val="EF7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06039" y="2788920"/>
            <a:ext cx="1417320" cy="1325880"/>
          </a:xfrm>
          <a:prstGeom prst="roundRect">
            <a:avLst/>
          </a:prstGeom>
          <a:solidFill>
            <a:srgbClr val="E0EFE6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199" y="2953512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199" y="3319272"/>
            <a:ext cx="1097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F3D43"/>
                </a:solidFill>
                <a:latin typeface="Aptos"/>
              </a:rPr>
              <a:t>Fingerprint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3675887"/>
            <a:ext cx="1097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0">
                <a:solidFill>
                  <a:srgbClr val="6A7D75"/>
                </a:solidFill>
                <a:latin typeface="Aptos"/>
              </a:rPr>
              <a:t>MD5 duplicate check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59" y="3438144"/>
            <a:ext cx="347472" cy="0"/>
          </a:xfrm>
          <a:prstGeom prst="line">
            <a:avLst/>
          </a:prstGeom>
          <a:ln w="19050">
            <a:solidFill>
              <a:srgbClr val="EF7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80559" y="2788920"/>
            <a:ext cx="1417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2953512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319272"/>
            <a:ext cx="1097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F3D43"/>
                </a:solidFill>
                <a:latin typeface="Aptos"/>
              </a:rPr>
              <a:t>Normalize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675887"/>
            <a:ext cx="1097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0">
                <a:solidFill>
                  <a:srgbClr val="6A7D75"/>
                </a:solidFill>
                <a:latin typeface="Aptos"/>
              </a:rPr>
              <a:t>Lowercase + aliases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97879" y="3438144"/>
            <a:ext cx="347472" cy="0"/>
          </a:xfrm>
          <a:prstGeom prst="line">
            <a:avLst/>
          </a:prstGeom>
          <a:ln w="19050">
            <a:solidFill>
              <a:srgbClr val="EF7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55079" y="2788920"/>
            <a:ext cx="1417320" cy="1325880"/>
          </a:xfrm>
          <a:prstGeom prst="roundRect">
            <a:avLst/>
          </a:prstGeom>
          <a:solidFill>
            <a:srgbClr val="E0EFE6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953512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19272"/>
            <a:ext cx="1097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F3D43"/>
                </a:solidFill>
                <a:latin typeface="Aptos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675887"/>
            <a:ext cx="1097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0">
                <a:solidFill>
                  <a:srgbClr val="6A7D75"/>
                </a:solidFill>
                <a:latin typeface="Aptos"/>
              </a:rPr>
              <a:t>Required fields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0" y="3438144"/>
            <a:ext cx="347471" cy="0"/>
          </a:xfrm>
          <a:prstGeom prst="line">
            <a:avLst/>
          </a:prstGeom>
          <a:ln w="19050">
            <a:solidFill>
              <a:srgbClr val="EF7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29600" y="2788920"/>
            <a:ext cx="1417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2953512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319272"/>
            <a:ext cx="1097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F3D43"/>
                </a:solidFill>
                <a:latin typeface="Aptos"/>
              </a:rPr>
              <a:t>Transform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675887"/>
            <a:ext cx="1097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0">
                <a:solidFill>
                  <a:srgbClr val="6A7D75"/>
                </a:solidFill>
                <a:latin typeface="Aptos"/>
              </a:rPr>
              <a:t>Amounts to cents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46920" y="3438144"/>
            <a:ext cx="347472" cy="0"/>
          </a:xfrm>
          <a:prstGeom prst="line">
            <a:avLst/>
          </a:prstGeom>
          <a:ln w="19050">
            <a:solidFill>
              <a:srgbClr val="EF7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04120" y="2788920"/>
            <a:ext cx="1417320" cy="1325880"/>
          </a:xfrm>
          <a:prstGeom prst="roundRect">
            <a:avLst/>
          </a:prstGeom>
          <a:solidFill>
            <a:srgbClr val="E0EFE6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0" y="2953512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319272"/>
            <a:ext cx="1097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F3D43"/>
                </a:solidFill>
                <a:latin typeface="Aptos"/>
              </a:rPr>
              <a:t>Stage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3675887"/>
            <a:ext cx="1097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0">
                <a:solidFill>
                  <a:srgbClr val="6A7D75"/>
                </a:solidFill>
                <a:latin typeface="Aptos"/>
              </a:rPr>
              <a:t>SQLite tables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983480"/>
            <a:ext cx="10424160" cy="3657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600" b="1">
                <a:solidFill>
                  <a:srgbClr val="2B765F"/>
                </a:solidFill>
                <a:latin typeface="Aptos"/>
              </a:rPr>
              <a:t>Key technologies: Pandas, BytesIO, hashlib, CSV, Excel, schema normalization, validation.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492240"/>
            <a:ext cx="384048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800" b="1">
                <a:solidFill>
                  <a:srgbClr val="6A7D75"/>
                </a:solidFill>
                <a:latin typeface="Aptos"/>
              </a:rPr>
              <a:t>FINRECON CONTROL SUITE   |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4"/>
          </a:solidFill>
          <a:ln>
            <a:solidFill>
              <a:srgbClr val="F4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FR  /  CONTROL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r"/>
            <a:r>
              <a:rPr sz="900" b="1">
                <a:solidFill>
                  <a:srgbClr val="2B765F"/>
                </a:solidFill>
                <a:latin typeface="Aptos"/>
              </a:rPr>
              <a:t>06 / PARSER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3000" b="1">
                <a:solidFill>
                  <a:srgbClr val="1F3D43"/>
                </a:solidFill>
                <a:latin typeface="Aptos Display"/>
              </a:rPr>
              <a:t>What the automated parser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10515600" cy="38404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2000" b="1">
                <a:solidFill>
                  <a:srgbClr val="1F3D43"/>
                </a:solidFill>
                <a:latin typeface="Aptos Display"/>
              </a:rPr>
              <a:t>It converts inconsistent uploaded files into clean, match-ready transaction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31546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331720"/>
            <a:ext cx="91440" cy="1024128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292608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1">
                <a:solidFill>
                  <a:srgbClr val="EF713D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468879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1F3D43"/>
                </a:solidFill>
                <a:latin typeface="Aptos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60" y="2780889"/>
            <a:ext cx="2529840" cy="40011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000" b="0" dirty="0">
                <a:solidFill>
                  <a:srgbClr val="6A7D75"/>
                </a:solidFill>
                <a:latin typeface="Aptos"/>
              </a:rPr>
              <a:t>CSV / XLSX files are read from uploaded bytes using Pandas.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331720"/>
            <a:ext cx="31546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2331720"/>
            <a:ext cx="91440" cy="1024128"/>
          </a:xfrm>
          <a:prstGeom prst="rect">
            <a:avLst/>
          </a:prstGeom>
          <a:solidFill>
            <a:srgbClr val="2B765F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2487168"/>
            <a:ext cx="292608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1">
                <a:solidFill>
                  <a:srgbClr val="EF713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468879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1F3D43"/>
                </a:solidFill>
                <a:latin typeface="Aptos"/>
              </a:rPr>
              <a:t>Fingerprint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80889"/>
            <a:ext cx="2606040" cy="40011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000" b="0" dirty="0">
                <a:solidFill>
                  <a:srgbClr val="6A7D75"/>
                </a:solidFill>
                <a:latin typeface="Aptos"/>
              </a:rPr>
              <a:t>MD5 creates a file identity for duplicate-upload detection.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331720"/>
            <a:ext cx="31546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2331720"/>
            <a:ext cx="91440" cy="1024128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2487168"/>
            <a:ext cx="292608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1">
                <a:solidFill>
                  <a:srgbClr val="EF713D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468879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1F3D43"/>
                </a:solidFill>
                <a:latin typeface="Aptos"/>
              </a:rPr>
              <a:t>Normalize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780889"/>
            <a:ext cx="2606040" cy="40011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000" b="0" dirty="0">
                <a:solidFill>
                  <a:srgbClr val="6A7D75"/>
                </a:solidFill>
                <a:latin typeface="Aptos"/>
              </a:rPr>
              <a:t>Headers are lowercased, trimmed, and mapped from common aliases.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49039"/>
            <a:ext cx="31546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" y="3749039"/>
            <a:ext cx="91440" cy="1024128"/>
          </a:xfrm>
          <a:prstGeom prst="rect">
            <a:avLst/>
          </a:prstGeom>
          <a:solidFill>
            <a:srgbClr val="2B765F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3904487"/>
            <a:ext cx="292608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1">
                <a:solidFill>
                  <a:srgbClr val="EF713D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88620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1F3D43"/>
                </a:solidFill>
                <a:latin typeface="Aptos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198209"/>
            <a:ext cx="2560320" cy="40011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000" b="0" dirty="0">
                <a:solidFill>
                  <a:srgbClr val="6A7D75"/>
                </a:solidFill>
                <a:latin typeface="Aptos"/>
              </a:rPr>
              <a:t>Required ledger and bank columns are added when missing.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749039"/>
            <a:ext cx="31546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26280" y="3749039"/>
            <a:ext cx="91440" cy="1024128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3904487"/>
            <a:ext cx="292608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1">
                <a:solidFill>
                  <a:srgbClr val="EF713D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88620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1F3D43"/>
                </a:solidFill>
                <a:latin typeface="Aptos"/>
              </a:rPr>
              <a:t>Transform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98209"/>
            <a:ext cx="2606040" cy="40011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000" b="0" dirty="0">
                <a:solidFill>
                  <a:srgbClr val="6A7D75"/>
                </a:solidFill>
                <a:latin typeface="Aptos"/>
              </a:rPr>
              <a:t>Amounts become integer cents for precise comparisons.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749039"/>
            <a:ext cx="31546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3749039"/>
            <a:ext cx="91440" cy="1024128"/>
          </a:xfrm>
          <a:prstGeom prst="rect">
            <a:avLst/>
          </a:prstGeom>
          <a:solidFill>
            <a:srgbClr val="2B765F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58200" y="3904487"/>
            <a:ext cx="292608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1">
                <a:solidFill>
                  <a:srgbClr val="EF713D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88620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1F3D43"/>
                </a:solidFill>
                <a:latin typeface="Aptos"/>
              </a:rPr>
              <a:t>Return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198209"/>
            <a:ext cx="2606040" cy="40011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1000" b="0" dirty="0">
                <a:solidFill>
                  <a:srgbClr val="6A7D75"/>
                </a:solidFill>
                <a:latin typeface="Aptos"/>
              </a:rPr>
              <a:t>A standardized </a:t>
            </a:r>
            <a:r>
              <a:rPr sz="1000" b="0" dirty="0" err="1">
                <a:solidFill>
                  <a:srgbClr val="6A7D75"/>
                </a:solidFill>
                <a:latin typeface="Aptos"/>
              </a:rPr>
              <a:t>DataFrame</a:t>
            </a:r>
            <a:r>
              <a:rPr sz="1000" b="0" dirty="0">
                <a:solidFill>
                  <a:srgbClr val="6A7D75"/>
                </a:solidFill>
                <a:latin typeface="Aptos"/>
              </a:rPr>
              <a:t> is sent to the SQLite staging layer.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532120"/>
            <a:ext cx="10515600" cy="530352"/>
          </a:xfrm>
          <a:prstGeom prst="roundRect">
            <a:avLst/>
          </a:prstGeom>
          <a:solidFill>
            <a:srgbClr val="E0EFE6"/>
          </a:solidFill>
          <a:ln>
            <a:solidFill>
              <a:srgbClr val="E0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7280" y="5650992"/>
            <a:ext cx="996696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300" b="1">
                <a:solidFill>
                  <a:srgbClr val="2B765F"/>
                </a:solidFill>
                <a:latin typeface="Aptos"/>
              </a:rPr>
              <a:t>Result: a predictable schema with transaction_id, booking_date, amount_cents, counterparty, and file_fingerprint.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492240"/>
            <a:ext cx="384048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800" b="1">
                <a:solidFill>
                  <a:srgbClr val="6A7D75"/>
                </a:solidFill>
                <a:latin typeface="Aptos"/>
              </a:rPr>
              <a:t>FINRECON CONTROL SUITE   |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4"/>
          </a:solidFill>
          <a:ln>
            <a:solidFill>
              <a:srgbClr val="F4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FR  /  CONTROL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r"/>
            <a:r>
              <a:rPr sz="900" b="1">
                <a:solidFill>
                  <a:srgbClr val="2B765F"/>
                </a:solidFill>
                <a:latin typeface="Aptos"/>
              </a:rPr>
              <a:t>07 /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3000" b="1">
                <a:solidFill>
                  <a:srgbClr val="1F3D43"/>
                </a:solidFill>
                <a:latin typeface="Aptos Display"/>
              </a:rPr>
              <a:t>Reconciliation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1920240" cy="566928"/>
          </a:xfrm>
          <a:prstGeom prst="roundRect">
            <a:avLst/>
          </a:prstGeom>
          <a:solidFill>
            <a:srgbClr val="2B765F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847088"/>
            <a:ext cx="16002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EXACT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810512"/>
            <a:ext cx="466344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17211F"/>
                </a:solidFill>
                <a:latin typeface="Aptos"/>
              </a:rPr>
              <a:t>ID and amount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810512"/>
            <a:ext cx="274320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0">
                <a:solidFill>
                  <a:srgbClr val="6A7D75"/>
                </a:solidFill>
                <a:latin typeface="Aptos"/>
              </a:rPr>
              <a:t>RECONCILED_EXACT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60320"/>
            <a:ext cx="1920240" cy="566928"/>
          </a:xfrm>
          <a:prstGeom prst="roundRect">
            <a:avLst/>
          </a:prstGeom>
          <a:solidFill>
            <a:srgbClr val="4C9071"/>
          </a:solidFill>
          <a:ln>
            <a:solidFill>
              <a:srgbClr val="4C9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670048"/>
            <a:ext cx="16002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MANY-TO-ONE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33472"/>
            <a:ext cx="466344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17211F"/>
                </a:solidFill>
                <a:latin typeface="Aptos"/>
              </a:rPr>
              <a:t>Several ledger rows sum to one bank 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33472"/>
            <a:ext cx="274320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0">
                <a:solidFill>
                  <a:srgbClr val="6A7D75"/>
                </a:solidFill>
                <a:latin typeface="Aptos"/>
              </a:rPr>
              <a:t>RECONCILED_MANY_TO_ONE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383280"/>
            <a:ext cx="1920240" cy="566928"/>
          </a:xfrm>
          <a:prstGeom prst="roundRect">
            <a:avLst/>
          </a:prstGeom>
          <a:solidFill>
            <a:srgbClr val="EBBC3D"/>
          </a:solidFill>
          <a:ln>
            <a:solidFill>
              <a:srgbClr val="EBB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493008"/>
            <a:ext cx="16002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456432"/>
            <a:ext cx="466344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17211F"/>
                </a:solidFill>
                <a:latin typeface="Aptos"/>
              </a:rPr>
              <a:t>Difference is within 5 cents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456432"/>
            <a:ext cx="274320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0">
                <a:solidFill>
                  <a:srgbClr val="6A7D75"/>
                </a:solidFill>
                <a:latin typeface="Aptos"/>
              </a:rPr>
              <a:t>VARIANCE_BREAK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06240"/>
            <a:ext cx="1920240" cy="566928"/>
          </a:xfrm>
          <a:prstGeom prst="roundRect">
            <a:avLst/>
          </a:prstGeom>
          <a:solidFill>
            <a:srgbClr val="BE4632"/>
          </a:solidFill>
          <a:ln>
            <a:solidFill>
              <a:srgbClr val="B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315968"/>
            <a:ext cx="16002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MISSING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279392"/>
            <a:ext cx="466344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17211F"/>
                </a:solidFill>
                <a:latin typeface="Aptos"/>
              </a:rPr>
              <a:t>Ledger row has no bank 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279392"/>
            <a:ext cx="274320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0">
                <a:solidFill>
                  <a:srgbClr val="6A7D75"/>
                </a:solidFill>
                <a:latin typeface="Aptos"/>
              </a:rPr>
              <a:t>UNMATCHED_BREAK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029200"/>
            <a:ext cx="1920240" cy="566928"/>
          </a:xfrm>
          <a:prstGeom prst="roundRect">
            <a:avLst/>
          </a:prstGeom>
          <a:solidFill>
            <a:srgbClr val="7C509F"/>
          </a:solidFill>
          <a:ln>
            <a:solidFill>
              <a:srgbClr val="7C5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8"/>
            <a:ext cx="16002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UNKNOWN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5102352"/>
            <a:ext cx="466344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500" b="1">
                <a:solidFill>
                  <a:srgbClr val="17211F"/>
                </a:solidFill>
                <a:latin typeface="Aptos"/>
              </a:rPr>
              <a:t>Bank row has no ledger 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5102352"/>
            <a:ext cx="274320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0">
                <a:solidFill>
                  <a:srgbClr val="6A7D75"/>
                </a:solidFill>
                <a:latin typeface="Aptos"/>
              </a:rPr>
              <a:t>Review required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492240"/>
            <a:ext cx="384048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800" b="1">
                <a:solidFill>
                  <a:srgbClr val="6A7D75"/>
                </a:solidFill>
                <a:latin typeface="Aptos"/>
              </a:rPr>
              <a:t>FINRECON CONTROL SUITE   |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4"/>
          </a:solidFill>
          <a:ln>
            <a:solidFill>
              <a:srgbClr val="F4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FR  /  CONTROL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r"/>
            <a:r>
              <a:rPr sz="900" b="1">
                <a:solidFill>
                  <a:srgbClr val="2B765F"/>
                </a:solidFill>
                <a:latin typeface="Aptos"/>
              </a:rPr>
              <a:t>07 /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3000" b="1">
                <a:solidFill>
                  <a:srgbClr val="1F3D43"/>
                </a:solidFill>
                <a:latin typeface="Aptos Display"/>
              </a:rPr>
              <a:t>What the system matches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10515600" cy="38404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2100" b="1">
                <a:solidFill>
                  <a:srgbClr val="1F3D43"/>
                </a:solidFill>
                <a:latin typeface="Aptos Display"/>
              </a:rPr>
              <a:t>Two transaction streams become five clear business outcomes.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1600200" cy="438912"/>
          </a:xfrm>
          <a:prstGeom prst="roundRect">
            <a:avLst/>
          </a:prstGeom>
          <a:solidFill>
            <a:srgbClr val="2B765F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404872"/>
            <a:ext cx="137160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386584"/>
            <a:ext cx="38862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7211F"/>
                </a:solidFill>
                <a:latin typeface="Aptos"/>
              </a:rPr>
              <a:t>ID + amount 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386584"/>
            <a:ext cx="3383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0">
                <a:solidFill>
                  <a:srgbClr val="6A7D75"/>
                </a:solidFill>
                <a:latin typeface="Aptos"/>
              </a:rPr>
              <a:t>Report sheet: Perfect Matches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35224"/>
            <a:ext cx="1600200" cy="438912"/>
          </a:xfrm>
          <a:prstGeom prst="roundRect">
            <a:avLst/>
          </a:prstGeom>
          <a:solidFill>
            <a:srgbClr val="4C9071"/>
          </a:solidFill>
          <a:ln>
            <a:solidFill>
              <a:srgbClr val="4C9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008376"/>
            <a:ext cx="137160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MANY-TO-ONE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990088"/>
            <a:ext cx="38862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7211F"/>
                </a:solidFill>
                <a:latin typeface="Aptos"/>
              </a:rPr>
              <a:t>Ledger rows sum to one bank 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990088"/>
            <a:ext cx="3383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0">
                <a:solidFill>
                  <a:srgbClr val="6A7D75"/>
                </a:solidFill>
                <a:latin typeface="Aptos"/>
              </a:rPr>
              <a:t>Report sheet: Many-to-One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38728"/>
            <a:ext cx="1600200" cy="438912"/>
          </a:xfrm>
          <a:prstGeom prst="roundRect">
            <a:avLst/>
          </a:prstGeom>
          <a:solidFill>
            <a:srgbClr val="EBBC3D"/>
          </a:solidFill>
          <a:ln>
            <a:solidFill>
              <a:srgbClr val="EBB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611880"/>
            <a:ext cx="137160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VARIANCE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593592"/>
            <a:ext cx="38862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7211F"/>
                </a:solidFill>
                <a:latin typeface="Aptos"/>
              </a:rPr>
              <a:t>Difference is within 5 cents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593592"/>
            <a:ext cx="3383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0">
                <a:solidFill>
                  <a:srgbClr val="6A7D75"/>
                </a:solidFill>
                <a:latin typeface="Aptos"/>
              </a:rPr>
              <a:t>Report sheet: Variance Breaks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42231"/>
            <a:ext cx="1600200" cy="438912"/>
          </a:xfrm>
          <a:prstGeom prst="roundRect">
            <a:avLst/>
          </a:prstGeom>
          <a:solidFill>
            <a:srgbClr val="BE4632"/>
          </a:solidFill>
          <a:ln>
            <a:solidFill>
              <a:srgbClr val="B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4215383"/>
            <a:ext cx="137160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MISSING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197095"/>
            <a:ext cx="38862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7211F"/>
                </a:solidFill>
                <a:latin typeface="Aptos"/>
              </a:rPr>
              <a:t>Ledger item has no bank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197095"/>
            <a:ext cx="3383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0">
                <a:solidFill>
                  <a:srgbClr val="6A7D75"/>
                </a:solidFill>
                <a:latin typeface="Aptos"/>
              </a:rPr>
              <a:t>Report sheet: Missing Ledger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745736"/>
            <a:ext cx="1600200" cy="438912"/>
          </a:xfrm>
          <a:prstGeom prst="roundRect">
            <a:avLst/>
          </a:prstGeom>
          <a:solidFill>
            <a:srgbClr val="7C509F"/>
          </a:solidFill>
          <a:ln>
            <a:solidFill>
              <a:srgbClr val="7C5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4818888"/>
            <a:ext cx="137160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UNKNOWN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800599"/>
            <a:ext cx="38862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7211F"/>
                </a:solidFill>
                <a:latin typeface="Aptos"/>
              </a:rPr>
              <a:t>Bank item has no ledger 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800599"/>
            <a:ext cx="338328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200" b="0">
                <a:solidFill>
                  <a:srgbClr val="6A7D75"/>
                </a:solidFill>
                <a:latin typeface="Aptos"/>
              </a:rPr>
              <a:t>Report sheet: Unknown Bank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486400"/>
            <a:ext cx="10469880" cy="530352"/>
          </a:xfrm>
          <a:prstGeom prst="roundRect">
            <a:avLst/>
          </a:prstGeom>
          <a:solidFill>
            <a:srgbClr val="E0EFE6"/>
          </a:solidFill>
          <a:ln>
            <a:solidFill>
              <a:srgbClr val="E0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5614416"/>
            <a:ext cx="98298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500" b="1">
                <a:solidFill>
                  <a:srgbClr val="2B765F"/>
                </a:solidFill>
                <a:latin typeface="Aptos"/>
              </a:rPr>
              <a:t>The report gives finance teams the match, the exception, the reason, and the evidence needed for close.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492240"/>
            <a:ext cx="384048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800" b="1">
                <a:solidFill>
                  <a:srgbClr val="6A7D75"/>
                </a:solidFill>
                <a:latin typeface="Aptos"/>
              </a:rPr>
              <a:t>FINRECON CONTROL SUITE   | 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4"/>
          </a:solidFill>
          <a:ln>
            <a:solidFill>
              <a:srgbClr val="F4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FR  /  CONTROL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r"/>
            <a:r>
              <a:rPr sz="900" b="1">
                <a:solidFill>
                  <a:srgbClr val="2B765F"/>
                </a:solidFill>
                <a:latin typeface="Aptos"/>
              </a:rPr>
              <a:t>08 /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3000" b="1">
                <a:solidFill>
                  <a:srgbClr val="1F3D43"/>
                </a:solidFill>
                <a:latin typeface="Aptos Display"/>
              </a:rPr>
              <a:t>Worked reconciliation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10515600" cy="38404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2000" b="1" dirty="0">
                <a:solidFill>
                  <a:srgbClr val="1F3D43"/>
                </a:solidFill>
                <a:latin typeface="Aptos Display"/>
              </a:rPr>
              <a:t>Use these examples to explain what the engine finds in real transaction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04288"/>
            <a:ext cx="5074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304288"/>
            <a:ext cx="109728" cy="841248"/>
          </a:xfrm>
          <a:prstGeom prst="rect">
            <a:avLst/>
          </a:prstGeom>
          <a:solidFill>
            <a:srgbClr val="2B765F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432304"/>
            <a:ext cx="114300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1">
                <a:solidFill>
                  <a:srgbClr val="2B765F"/>
                </a:solidFill>
                <a:latin typeface="Aptos"/>
              </a:rPr>
              <a:t>EXACT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2395728"/>
            <a:ext cx="329184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Ledger: TXN-1001 | 12,500¢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2615184"/>
            <a:ext cx="329184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0">
                <a:solidFill>
                  <a:srgbClr val="17211F"/>
                </a:solidFill>
                <a:latin typeface="Aptos"/>
              </a:rPr>
              <a:t>Bank: TXN-1001 | 12,500¢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8568" y="2862072"/>
            <a:ext cx="3291840" cy="164592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900" b="0">
                <a:solidFill>
                  <a:srgbClr val="6A7D75"/>
                </a:solidFill>
                <a:latin typeface="Aptos"/>
              </a:rPr>
              <a:t>IDs and amounts agree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04288"/>
            <a:ext cx="5074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304288"/>
            <a:ext cx="109728" cy="841248"/>
          </a:xfrm>
          <a:prstGeom prst="rect">
            <a:avLst/>
          </a:prstGeom>
          <a:solidFill>
            <a:srgbClr val="4C9071"/>
          </a:solidFill>
          <a:ln>
            <a:solidFill>
              <a:srgbClr val="4C9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432304"/>
            <a:ext cx="114300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1">
                <a:solidFill>
                  <a:srgbClr val="4C9071"/>
                </a:solidFill>
                <a:latin typeface="Aptos"/>
              </a:rPr>
              <a:t>MANY-TO-ONE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2395728"/>
            <a:ext cx="329184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Ledger: 3,000¢ + 2,500¢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2615184"/>
            <a:ext cx="329184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0">
                <a:solidFill>
                  <a:srgbClr val="17211F"/>
                </a:solidFill>
                <a:latin typeface="Aptos"/>
              </a:rPr>
              <a:t>Bank: one posting | 5,500¢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8" y="2862072"/>
            <a:ext cx="3291840" cy="164592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900" b="0">
                <a:solidFill>
                  <a:srgbClr val="6A7D75"/>
                </a:solidFill>
                <a:latin typeface="Aptos"/>
              </a:rPr>
              <a:t>Several rows equal one bank row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83280"/>
            <a:ext cx="5074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3383280"/>
            <a:ext cx="109728" cy="841248"/>
          </a:xfrm>
          <a:prstGeom prst="rect">
            <a:avLst/>
          </a:prstGeom>
          <a:solidFill>
            <a:srgbClr val="EBBC3D"/>
          </a:solidFill>
          <a:ln>
            <a:solidFill>
              <a:srgbClr val="EBB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3511296"/>
            <a:ext cx="114300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1">
                <a:solidFill>
                  <a:srgbClr val="EBBC3D"/>
                </a:solidFill>
                <a:latin typeface="Aptos"/>
              </a:rPr>
              <a:t>VARIANCE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8568" y="3474720"/>
            <a:ext cx="329184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Ledger: 6,800¢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3694176"/>
            <a:ext cx="329184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0">
                <a:solidFill>
                  <a:srgbClr val="17211F"/>
                </a:solidFill>
                <a:latin typeface="Aptos"/>
              </a:rPr>
              <a:t>Bank: 6,804¢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58568" y="3941064"/>
            <a:ext cx="3291840" cy="164592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900" b="0">
                <a:solidFill>
                  <a:srgbClr val="6A7D75"/>
                </a:solidFill>
                <a:latin typeface="Aptos"/>
              </a:rPr>
              <a:t>Difference = 4¢, within tolerance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383280"/>
            <a:ext cx="5074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3383280"/>
            <a:ext cx="109728" cy="841248"/>
          </a:xfrm>
          <a:prstGeom prst="rect">
            <a:avLst/>
          </a:prstGeom>
          <a:solidFill>
            <a:srgbClr val="BE4632"/>
          </a:solidFill>
          <a:ln>
            <a:solidFill>
              <a:srgbClr val="BE4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3511296"/>
            <a:ext cx="114300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1">
                <a:solidFill>
                  <a:srgbClr val="BE4632"/>
                </a:solidFill>
                <a:latin typeface="Aptos"/>
              </a:rPr>
              <a:t>MISSING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8" y="3474720"/>
            <a:ext cx="329184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Ledger: TXN-1005 | 4,500¢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3694176"/>
            <a:ext cx="329184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0">
                <a:solidFill>
                  <a:srgbClr val="17211F"/>
                </a:solidFill>
                <a:latin typeface="Aptos"/>
              </a:rPr>
              <a:t>Bank: no matching row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3941064"/>
            <a:ext cx="3291840" cy="164592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900" b="0">
                <a:solidFill>
                  <a:srgbClr val="6A7D75"/>
                </a:solidFill>
                <a:latin typeface="Aptos"/>
              </a:rPr>
              <a:t>Ledger item needs investigation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462272"/>
            <a:ext cx="50749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4462272"/>
            <a:ext cx="109728" cy="841248"/>
          </a:xfrm>
          <a:prstGeom prst="rect">
            <a:avLst/>
          </a:prstGeom>
          <a:solidFill>
            <a:srgbClr val="7C509F"/>
          </a:solidFill>
          <a:ln>
            <a:solidFill>
              <a:srgbClr val="7C5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" y="4590288"/>
            <a:ext cx="114300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1">
                <a:solidFill>
                  <a:srgbClr val="7C509F"/>
                </a:solidFill>
                <a:latin typeface="Aptos"/>
              </a:rPr>
              <a:t>UNKNOWN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58568" y="4553712"/>
            <a:ext cx="329184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Ledger: no matching 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58568" y="4773168"/>
            <a:ext cx="3291840" cy="20116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0">
                <a:solidFill>
                  <a:srgbClr val="17211F"/>
                </a:solidFill>
                <a:latin typeface="Aptos"/>
              </a:rPr>
              <a:t>Bank: BANK-1006 | 7,777¢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58568" y="5020056"/>
            <a:ext cx="3291840" cy="164592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900" b="0">
                <a:solidFill>
                  <a:srgbClr val="6A7D75"/>
                </a:solidFill>
                <a:latin typeface="Aptos"/>
              </a:rPr>
              <a:t>Bank posting needs investigation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623560"/>
            <a:ext cx="10607040" cy="475488"/>
          </a:xfrm>
          <a:prstGeom prst="roundRect">
            <a:avLst/>
          </a:prstGeom>
          <a:solidFill>
            <a:srgbClr val="E0EFE6"/>
          </a:solidFill>
          <a:ln>
            <a:solidFill>
              <a:srgbClr val="E0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1560" y="5742432"/>
            <a:ext cx="1005840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400" b="1">
                <a:solidFill>
                  <a:srgbClr val="2B765F"/>
                </a:solidFill>
                <a:latin typeface="Aptos"/>
              </a:rPr>
              <a:t>Amounts are stored in cents so comparisons remain precise and avoid currency rounding errors.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492240"/>
            <a:ext cx="384048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800" b="1">
                <a:solidFill>
                  <a:srgbClr val="6A7D75"/>
                </a:solidFill>
                <a:latin typeface="Aptos"/>
              </a:rPr>
              <a:t>FINRECON CONTROL SUITE   | 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4"/>
          </a:solidFill>
          <a:ln>
            <a:solidFill>
              <a:srgbClr val="F4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FR  /  CONTROL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r"/>
            <a:r>
              <a:rPr sz="900" b="1">
                <a:solidFill>
                  <a:srgbClr val="2B765F"/>
                </a:solidFill>
                <a:latin typeface="Aptos"/>
              </a:rPr>
              <a:t>08 /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3000" b="1">
                <a:solidFill>
                  <a:srgbClr val="1F3D43"/>
                </a:solidFill>
                <a:latin typeface="Aptos Display"/>
              </a:rPr>
              <a:t>Exception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12064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22860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1">
                <a:solidFill>
                  <a:srgbClr val="EF713D"/>
                </a:solidFill>
                <a:latin typeface="Aptos"/>
              </a:rPr>
              <a:t>EXCEPTION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274511"/>
            <a:ext cx="4267505" cy="800219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2300" b="1" dirty="0">
                <a:solidFill>
                  <a:srgbClr val="1F3D43"/>
                </a:solidFill>
                <a:latin typeface="Aptos Display"/>
              </a:rPr>
              <a:t>Human judgement where automation stops.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364991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3246120"/>
            <a:ext cx="3977639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400" b="0">
                <a:solidFill>
                  <a:srgbClr val="17211F"/>
                </a:solidFill>
                <a:latin typeface="Aptos"/>
              </a:rPr>
              <a:t>Search by transaction or counterparty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794759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3675887"/>
            <a:ext cx="3977639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400" b="0">
                <a:solidFill>
                  <a:srgbClr val="17211F"/>
                </a:solidFill>
                <a:latin typeface="Aptos"/>
              </a:rPr>
              <a:t>Filter by unresolved or variance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224528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4105656"/>
            <a:ext cx="3977639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400" b="0">
                <a:solidFill>
                  <a:srgbClr val="17211F"/>
                </a:solidFill>
                <a:latin typeface="Aptos"/>
              </a:rPr>
              <a:t>Approve, reject, or mark under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4654296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3040" y="4535424"/>
            <a:ext cx="3977639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400" b="0">
                <a:solidFill>
                  <a:srgbClr val="17211F"/>
                </a:solidFill>
                <a:latin typeface="Aptos"/>
              </a:rPr>
              <a:t>Require a reason for every 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5084064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4965192"/>
            <a:ext cx="3977639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400" b="0">
                <a:solidFill>
                  <a:srgbClr val="17211F"/>
                </a:solidFill>
                <a:latin typeface="Aptos"/>
              </a:rPr>
              <a:t>Export the current exception 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691640"/>
            <a:ext cx="4846320" cy="4069080"/>
          </a:xfrm>
          <a:prstGeom prst="roundRect">
            <a:avLst/>
          </a:prstGeom>
          <a:solidFill>
            <a:srgbClr val="1F3D43"/>
          </a:solidFill>
          <a:ln>
            <a:solidFill>
              <a:srgbClr val="1F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2011680"/>
            <a:ext cx="228600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000" b="1">
                <a:solidFill>
                  <a:srgbClr val="FFAA7A"/>
                </a:solidFill>
                <a:latin typeface="Aptos"/>
              </a:rPr>
              <a:t>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2274511"/>
            <a:ext cx="4032504" cy="800219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/>
            <a:r>
              <a:rPr sz="2300" b="1" dirty="0">
                <a:solidFill>
                  <a:srgbClr val="FFFFFF"/>
                </a:solidFill>
                <a:latin typeface="Aptos Display"/>
              </a:rPr>
              <a:t>Every important action is explainable.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3364991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86600" y="3246120"/>
            <a:ext cx="370332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400" b="0">
                <a:solidFill>
                  <a:srgbClr val="DCEBE2"/>
                </a:solidFill>
                <a:latin typeface="Aptos"/>
              </a:rPr>
              <a:t>Sign in and account creation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3794759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3675887"/>
            <a:ext cx="370332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400" b="0">
                <a:solidFill>
                  <a:srgbClr val="DCEBE2"/>
                </a:solidFill>
                <a:latin typeface="Aptos"/>
              </a:rPr>
              <a:t>File upload and row counts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4224528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86600" y="4105656"/>
            <a:ext cx="370332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400" b="0">
                <a:solidFill>
                  <a:srgbClr val="DCEBE2"/>
                </a:solidFill>
                <a:latin typeface="Aptos"/>
              </a:rPr>
              <a:t>Reconciliation run 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4654296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6600" y="4535424"/>
            <a:ext cx="370332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400" b="0">
                <a:solidFill>
                  <a:srgbClr val="DCEBE2"/>
                </a:solidFill>
                <a:latin typeface="Aptos"/>
              </a:rPr>
              <a:t>Manual exception decision and reason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5084064"/>
            <a:ext cx="91440" cy="91440"/>
          </a:xfrm>
          <a:prstGeom prst="round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86600" y="4965192"/>
            <a:ext cx="3703320" cy="292608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400" b="0">
                <a:solidFill>
                  <a:srgbClr val="DCEBE2"/>
                </a:solidFill>
                <a:latin typeface="Aptos"/>
              </a:rPr>
              <a:t>Timestamped activity 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492240"/>
            <a:ext cx="384048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800" b="1">
                <a:solidFill>
                  <a:srgbClr val="6A7D75"/>
                </a:solidFill>
                <a:latin typeface="Aptos"/>
              </a:rPr>
              <a:t>FINRECON CONTROL SUITE   |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4"/>
          </a:solidFill>
          <a:ln>
            <a:solidFill>
              <a:srgbClr val="F4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1F3D43"/>
                </a:solidFill>
                <a:latin typeface="Aptos"/>
              </a:rPr>
              <a:t>FR  /  CONTROL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6576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r"/>
            <a:r>
              <a:rPr sz="900" b="1">
                <a:solidFill>
                  <a:srgbClr val="2B765F"/>
                </a:solidFill>
                <a:latin typeface="Aptos"/>
              </a:rPr>
              <a:t>10 /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3000" b="1">
                <a:solidFill>
                  <a:srgbClr val="1F3D43"/>
                </a:solidFill>
                <a:latin typeface="Aptos Display"/>
              </a:rPr>
              <a:t>Persistence and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424160" cy="4114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2100" b="1">
                <a:solidFill>
                  <a:srgbClr val="1F3D43"/>
                </a:solidFill>
                <a:latin typeface="Aptos Display"/>
              </a:rPr>
              <a:t>The system keeps both the current state and the history of what happened.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56032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560320"/>
            <a:ext cx="2377440" cy="91440"/>
          </a:xfrm>
          <a:prstGeom prst="rect">
            <a:avLst/>
          </a:prstGeom>
          <a:solidFill>
            <a:srgbClr val="2B765F"/>
          </a:solidFill>
          <a:ln>
            <a:solidFill>
              <a:srgbClr val="2B7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852928"/>
            <a:ext cx="20116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F3D43"/>
                </a:solidFill>
                <a:latin typeface="Aptos"/>
              </a:rPr>
              <a:t>internal_ledger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310128"/>
            <a:ext cx="196596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0">
                <a:solidFill>
                  <a:srgbClr val="6A7D75"/>
                </a:solidFill>
                <a:latin typeface="Aptos"/>
              </a:rPr>
              <a:t>Current transaction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56032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0" y="2560320"/>
            <a:ext cx="2377440" cy="91440"/>
          </a:xfrm>
          <a:prstGeom prst="rect">
            <a:avLst/>
          </a:prstGeom>
          <a:solidFill>
            <a:srgbClr val="4C9071"/>
          </a:solidFill>
          <a:ln>
            <a:solidFill>
              <a:srgbClr val="4C9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22191" y="2852928"/>
            <a:ext cx="20116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F3D43"/>
                </a:solidFill>
                <a:latin typeface="Aptos"/>
              </a:rPr>
              <a:t>bank_statement_feed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310128"/>
            <a:ext cx="196596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0">
                <a:solidFill>
                  <a:srgbClr val="6A7D75"/>
                </a:solidFill>
                <a:latin typeface="Aptos"/>
              </a:rPr>
              <a:t>Imported bank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56032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46520" y="2560320"/>
            <a:ext cx="2377440" cy="91440"/>
          </a:xfrm>
          <a:prstGeom prst="rect">
            <a:avLst/>
          </a:prstGeom>
          <a:solidFill>
            <a:srgbClr val="EF713D"/>
          </a:solidFill>
          <a:ln>
            <a:solidFill>
              <a:srgbClr val="EF7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2852928"/>
            <a:ext cx="20116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F3D43"/>
                </a:solidFill>
                <a:latin typeface="Aptos"/>
              </a:rPr>
              <a:t>reconciliation_results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310128"/>
            <a:ext cx="196596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0">
                <a:solidFill>
                  <a:srgbClr val="6A7D75"/>
                </a:solidFill>
                <a:latin typeface="Aptos"/>
              </a:rPr>
              <a:t>Every matching outcome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39" y="256032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39" y="2560320"/>
            <a:ext cx="2377440" cy="91440"/>
          </a:xfrm>
          <a:prstGeom prst="rect">
            <a:avLst/>
          </a:prstGeom>
          <a:solidFill>
            <a:srgbClr val="EBBC3D"/>
          </a:solidFill>
          <a:ln>
            <a:solidFill>
              <a:srgbClr val="EBB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00031" y="2852928"/>
            <a:ext cx="20116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1F3D43"/>
                </a:solidFill>
                <a:latin typeface="Aptos"/>
              </a:rPr>
              <a:t>audit_log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1" y="3310128"/>
            <a:ext cx="196596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0">
                <a:solidFill>
                  <a:srgbClr val="6A7D75"/>
                </a:solidFill>
                <a:latin typeface="Aptos"/>
              </a:rPr>
              <a:t>Operator and system actions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57400" y="4572000"/>
            <a:ext cx="7909560" cy="0"/>
          </a:xfrm>
          <a:prstGeom prst="line">
            <a:avLst/>
          </a:prstGeom>
          <a:ln w="25400">
            <a:solidFill>
              <a:srgbClr val="2B76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83480" y="4736592"/>
            <a:ext cx="219456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700" b="1">
                <a:solidFill>
                  <a:srgbClr val="2B765F"/>
                </a:solidFill>
                <a:latin typeface="Aptos"/>
              </a:rPr>
              <a:t>Excel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230368"/>
            <a:ext cx="804672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1400" b="0">
                <a:solidFill>
                  <a:srgbClr val="6A7D75"/>
                </a:solidFill>
                <a:latin typeface="Aptos"/>
              </a:rPr>
              <a:t>Summary  |  Exact  |  Many-to-One  |  Variance  |  Missing  |  Unknown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492240"/>
            <a:ext cx="384048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800" b="1">
                <a:solidFill>
                  <a:srgbClr val="6A7D75"/>
                </a:solidFill>
                <a:latin typeface="Aptos"/>
              </a:rPr>
              <a:t>FINRECON CONTROL SUITE   |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D43"/>
          </a:solidFill>
          <a:ln>
            <a:solidFill>
              <a:srgbClr val="1F3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7432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FR  /  CONTROL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65760"/>
            <a:ext cx="21488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r"/>
            <a:r>
              <a:rPr sz="900" b="1">
                <a:solidFill>
                  <a:srgbClr val="AECFC2"/>
                </a:solidFill>
                <a:latin typeface="Aptos"/>
              </a:rPr>
              <a:t>11 /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Live demo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A complete demonstration takes one clean sequence.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743200"/>
            <a:ext cx="2331720" cy="713232"/>
          </a:xfrm>
          <a:prstGeom prst="roundRect">
            <a:avLst/>
          </a:prstGeom>
          <a:solidFill>
            <a:srgbClr val="2B5154"/>
          </a:solidFill>
          <a:ln>
            <a:solidFill>
              <a:srgbClr val="689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916936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89504"/>
            <a:ext cx="150876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Start Flask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743200"/>
            <a:ext cx="2331720" cy="713232"/>
          </a:xfrm>
          <a:prstGeom prst="roundRect">
            <a:avLst/>
          </a:prstGeom>
          <a:solidFill>
            <a:srgbClr val="2B5154"/>
          </a:solidFill>
          <a:ln>
            <a:solidFill>
              <a:srgbClr val="689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1" y="2916936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889504"/>
            <a:ext cx="150876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Sign in as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743200"/>
            <a:ext cx="2331720" cy="713232"/>
          </a:xfrm>
          <a:prstGeom prst="roundRect">
            <a:avLst/>
          </a:prstGeom>
          <a:solidFill>
            <a:srgbClr val="2B5154"/>
          </a:solidFill>
          <a:ln>
            <a:solidFill>
              <a:srgbClr val="689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2916936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889504"/>
            <a:ext cx="150876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Upload two Excel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2743200"/>
            <a:ext cx="2331720" cy="713232"/>
          </a:xfrm>
          <a:prstGeom prst="roundRect">
            <a:avLst/>
          </a:prstGeom>
          <a:solidFill>
            <a:srgbClr val="2B5154"/>
          </a:solidFill>
          <a:ln>
            <a:solidFill>
              <a:srgbClr val="689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00031" y="2916936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799" y="2889504"/>
            <a:ext cx="150876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Commit the batch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977639"/>
            <a:ext cx="2331720" cy="713232"/>
          </a:xfrm>
          <a:prstGeom prst="roundRect">
            <a:avLst/>
          </a:prstGeom>
          <a:solidFill>
            <a:srgbClr val="2B5154"/>
          </a:solidFill>
          <a:ln>
            <a:solidFill>
              <a:srgbClr val="689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1" y="4151376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123944"/>
            <a:ext cx="150876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Run the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977639"/>
            <a:ext cx="2331720" cy="713232"/>
          </a:xfrm>
          <a:prstGeom prst="roundRect">
            <a:avLst/>
          </a:prstGeom>
          <a:solidFill>
            <a:srgbClr val="2B5154"/>
          </a:solidFill>
          <a:ln>
            <a:solidFill>
              <a:srgbClr val="689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22191" y="4151376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123944"/>
            <a:ext cx="150876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Review exceptions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3977639"/>
            <a:ext cx="2331720" cy="713232"/>
          </a:xfrm>
          <a:prstGeom prst="roundRect">
            <a:avLst/>
          </a:prstGeom>
          <a:solidFill>
            <a:srgbClr val="2B5154"/>
          </a:solidFill>
          <a:ln>
            <a:solidFill>
              <a:srgbClr val="689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4151376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123944"/>
            <a:ext cx="150876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Download report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39" y="3977639"/>
            <a:ext cx="2331720" cy="713232"/>
          </a:xfrm>
          <a:prstGeom prst="roundRect">
            <a:avLst/>
          </a:prstGeom>
          <a:solidFill>
            <a:srgbClr val="2B5154"/>
          </a:solidFill>
          <a:ln>
            <a:solidFill>
              <a:srgbClr val="689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00031" y="4151376"/>
            <a:ext cx="320040" cy="2286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100" b="1">
                <a:solidFill>
                  <a:srgbClr val="EF713D"/>
                </a:solidFill>
                <a:latin typeface="Aptos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799" y="4123944"/>
            <a:ext cx="1508760" cy="32004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Verify audit +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623560"/>
            <a:ext cx="10378440" cy="45720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ctr"/>
            <a:r>
              <a:rPr sz="2000" b="1">
                <a:solidFill>
                  <a:srgbClr val="CBE5D7"/>
                </a:solidFill>
                <a:latin typeface="Aptos"/>
              </a:rPr>
              <a:t>FinRecon turns reconciliation from a manual comparison into a controlled, auditable operating process.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92240"/>
            <a:ext cx="3840480" cy="182880"/>
          </a:xfrm>
          <a:prstGeom prst="rect">
            <a:avLst/>
          </a:prstGeom>
          <a:noFill/>
        </p:spPr>
        <p:txBody>
          <a:bodyPr wrap="none" lIns="25400" rIns="25400" anchor="ctr">
            <a:spAutoFit/>
          </a:bodyPr>
          <a:lstStyle/>
          <a:p>
            <a:pPr algn="l"/>
            <a:r>
              <a:rPr sz="800" b="1">
                <a:solidFill>
                  <a:srgbClr val="6A7D75"/>
                </a:solidFill>
                <a:latin typeface="Aptos"/>
              </a:rPr>
              <a:t>FINRECON CONTROL SUITE   |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1024</Words>
  <Application>Microsoft Office PowerPoint</Application>
  <PresentationFormat>Widescreen</PresentationFormat>
  <Paragraphs>239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Kaif Jaman</cp:lastModifiedBy>
  <cp:revision>3</cp:revision>
  <dcterms:created xsi:type="dcterms:W3CDTF">2013-01-27T09:14:16Z</dcterms:created>
  <dcterms:modified xsi:type="dcterms:W3CDTF">2026-09-05T14:54:47Z</dcterms:modified>
  <cp:category/>
</cp:coreProperties>
</file>